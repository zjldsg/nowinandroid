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96" y="1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143000"/>
            <a:ext cx="512064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微软雅黑"/>
              </a:rPr>
              <a:t>安卓应用综合测试报
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50292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5FAFF"/>
                </a:solidFill>
                <a:latin typeface="微软雅黑"/>
              </a:rPr>
              <a:t>Now in Android 测试项目汇报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154680"/>
            <a:ext cx="5486400" cy="38404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5FAFF"/>
                </a:solidFill>
                <a:latin typeface="微软雅黑"/>
              </a:rPr>
              <a:t>单元测试 · 集成测试 · 系统测试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3657600" cy="328936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FFFFFF"/>
                </a:solidFill>
                <a:latin typeface="微软雅黑"/>
              </a:rPr>
              <a:t>汇报人</a:t>
            </a:r>
            <a:r>
              <a:rPr sz="1400" b="0" dirty="0">
                <a:solidFill>
                  <a:srgbClr val="FFFFFF"/>
                </a:solidFill>
                <a:latin typeface="微软雅黑"/>
              </a:rPr>
              <a:t>：</a:t>
            </a:r>
            <a:r>
              <a:rPr lang="zh-CN" altLang="en-US" sz="1400" dirty="0">
                <a:solidFill>
                  <a:srgbClr val="FFFFFF"/>
                </a:solidFill>
                <a:latin typeface="微软雅黑"/>
              </a:rPr>
              <a:t>曾翔宇</a:t>
            </a:r>
            <a:endParaRPr sz="1400" b="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5779008"/>
            <a:ext cx="3657600" cy="278281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 err="1">
                <a:solidFill>
                  <a:srgbClr val="F0F8FF"/>
                </a:solidFill>
                <a:latin typeface="微软雅黑"/>
              </a:rPr>
              <a:t>基于</a:t>
            </a:r>
            <a:r>
              <a:rPr lang="en-US" sz="1100" b="0" dirty="0" err="1">
                <a:solidFill>
                  <a:srgbClr val="F0F8FF"/>
                </a:solidFill>
                <a:latin typeface="微软雅黑"/>
              </a:rPr>
              <a:t>github</a:t>
            </a:r>
            <a:r>
              <a:rPr sz="1100" b="0" dirty="0" err="1">
                <a:solidFill>
                  <a:srgbClr val="F0F8FF"/>
                </a:solidFill>
                <a:latin typeface="微软雅黑"/>
              </a:rPr>
              <a:t>仓库</a:t>
            </a:r>
            <a:r>
              <a:rPr sz="1100" b="0" dirty="0">
                <a:solidFill>
                  <a:srgbClr val="F0F8FF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F0F8FF"/>
                </a:solidFill>
                <a:latin typeface="微软雅黑"/>
              </a:rPr>
              <a:t>zjldsg</a:t>
            </a:r>
            <a:r>
              <a:rPr sz="1100" b="0" dirty="0">
                <a:solidFill>
                  <a:srgbClr val="F0F8FF"/>
                </a:solidFill>
                <a:latin typeface="微软雅黑"/>
              </a:rPr>
              <a:t>/</a:t>
            </a:r>
            <a:r>
              <a:rPr sz="1100" b="0" dirty="0" err="1">
                <a:solidFill>
                  <a:srgbClr val="F0F8FF"/>
                </a:solidFill>
                <a:latin typeface="微软雅黑"/>
              </a:rPr>
              <a:t>nowinandroid</a:t>
            </a:r>
            <a:endParaRPr sz="1100" b="0" dirty="0">
              <a:solidFill>
                <a:srgbClr val="F0F8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目录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280160"/>
            <a:ext cx="10241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731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4F8D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微软雅黑"/>
              </a:rPr>
              <a:t>项目概述与测试目标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828800"/>
            <a:ext cx="731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4F8DFF"/>
                </a:solidFill>
                <a:latin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微软雅黑"/>
              </a:rPr>
              <a:t>测试方法与基础设施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34640"/>
            <a:ext cx="731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4F8D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34640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微软雅黑"/>
              </a:rPr>
              <a:t>单元/集成测试结果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34640"/>
            <a:ext cx="731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4F8DFF"/>
                </a:solidFill>
                <a:latin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微软雅黑"/>
              </a:rPr>
              <a:t>系统测试与工程质量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40480"/>
            <a:ext cx="731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4F8DFF"/>
                </a:solidFill>
                <a:latin typeface="微软雅黑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40480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微软雅黑"/>
              </a:rPr>
              <a:t>结论与改进建议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011680"/>
            <a:ext cx="109728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2029968"/>
            <a:ext cx="5943600" cy="502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项目概述与测试目标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0512" y="2542032"/>
            <a:ext cx="64008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0F8FF"/>
                </a:solidFill>
                <a:latin typeface="微软雅黑"/>
              </a:rPr>
              <a:t>测试背景、范围与总体策略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82880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安卓应用综合测试报告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项目背景与测试目标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78992"/>
            <a:ext cx="5440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6" y="1188720"/>
            <a:ext cx="522122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179576"/>
            <a:ext cx="50749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测试对象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91056"/>
            <a:ext cx="511149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测试对象为课程仓库 zjldsg/nowinandroid，基于 Google 官方 Now in Android 示例应用。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项目采用 Kotlin、Jetpack Compose、Hilt 与模块化架构，具备较完整的业务与工程链路。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078992"/>
            <a:ext cx="53035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45936" y="1188720"/>
            <a:ext cx="508406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179576"/>
            <a:ext cx="49377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测试目标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91056"/>
            <a:ext cx="497433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验证核心逻辑是否正确：ViewModel、Repository、数据流与协程状态。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验证组件协作是否稳定：Fake 数据源、真实仓库与页面状态联动。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验证工程质量：构建、静态检查、APK 结构与运行性能。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64992"/>
            <a:ext cx="1088136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8096" y="3474720"/>
            <a:ext cx="1066190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465576"/>
            <a:ext cx="1051560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测试结论先看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77056"/>
            <a:ext cx="105521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1F3A5F"/>
                </a:solidFill>
                <a:latin typeface="微软雅黑"/>
              </a:rPr>
              <a:t>仓库已形成“源码测试—构建检查—APK 分析—运行观测”的基本证据链。</a:t>
            </a:r>
          </a:p>
          <a:p>
            <a:pPr>
              <a:lnSpc>
                <a:spcPct val="120000"/>
              </a:lnSpc>
            </a:pPr>
            <a:r>
              <a:rPr sz="1600">
                <a:solidFill>
                  <a:srgbClr val="1F3A5F"/>
                </a:solidFill>
                <a:latin typeface="微软雅黑"/>
              </a:rPr>
              <a:t>当前记录的 260 个单元与集成测试用例全部通过，核心功能链路在现有用例范围内表现稳定。</a:t>
            </a:r>
          </a:p>
          <a:p>
            <a:pPr>
              <a:lnSpc>
                <a:spcPct val="120000"/>
              </a:lnSpc>
            </a:pPr>
            <a:r>
              <a:rPr sz="1600">
                <a:solidFill>
                  <a:srgbClr val="1F3A5F"/>
                </a:solidFill>
                <a:latin typeface="微软雅黑"/>
              </a:rPr>
              <a:t>但覆盖率统计口径、脚本可复现性与部分系统测试方法仍有进一步规范化空间。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测试范围、环境与工具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70432"/>
            <a:ext cx="48463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1280160"/>
            <a:ext cx="462686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71016"/>
            <a:ext cx="44805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测试分层策略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1828800"/>
            <a:ext cx="3840480" cy="822960"/>
          </a:xfrm>
          <a:prstGeom prst="roundRect">
            <a:avLst/>
          </a:prstGeom>
          <a:solidFill>
            <a:srgbClr val="9C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1938528"/>
            <a:ext cx="356616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系统测试
构建产物、APK、性能与稳定性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0745" y="2901047"/>
            <a:ext cx="3892600" cy="822960"/>
          </a:xfrm>
          <a:prstGeom prst="roundRect">
            <a:avLst/>
          </a:prstGeom>
          <a:solidFill>
            <a:srgbClr val="6F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8016" y="2944368"/>
            <a:ext cx="3764161" cy="89986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 err="1">
                <a:solidFill>
                  <a:srgbClr val="FFFFFF"/>
                </a:solidFill>
                <a:latin typeface="微软雅黑"/>
              </a:rPr>
              <a:t>集成测试</a:t>
            </a:r>
            <a:r>
              <a:rPr sz="1500" b="1" dirty="0">
                <a:solidFill>
                  <a:srgbClr val="FFFFFF"/>
                </a:solidFill>
                <a:latin typeface="微软雅黑"/>
              </a:rPr>
              <a:t>
</a:t>
            </a:r>
            <a:r>
              <a:rPr lang="en-US" sz="1500" b="1" dirty="0">
                <a:solidFill>
                  <a:srgbClr val="FFFFFF"/>
                </a:solidFill>
                <a:latin typeface="微软雅黑"/>
              </a:rPr>
              <a:t>    </a:t>
            </a:r>
            <a:r>
              <a:rPr sz="1500" b="1" dirty="0">
                <a:solidFill>
                  <a:srgbClr val="FFFFFF"/>
                </a:solidFill>
                <a:latin typeface="微软雅黑"/>
              </a:rPr>
              <a:t>Repository + </a:t>
            </a:r>
            <a:r>
              <a:rPr sz="1500" b="1" dirty="0" err="1">
                <a:solidFill>
                  <a:srgbClr val="FFFFFF"/>
                </a:solidFill>
                <a:latin typeface="微软雅黑"/>
              </a:rPr>
              <a:t>ViewModel</a:t>
            </a:r>
            <a:r>
              <a:rPr sz="1500" b="1" dirty="0">
                <a:solidFill>
                  <a:srgbClr val="FFFFFF"/>
                </a:solidFill>
                <a:latin typeface="微软雅黑"/>
              </a:rPr>
              <a:t> + </a:t>
            </a:r>
            <a:r>
              <a:rPr sz="1500" dirty="0">
                <a:solidFill>
                  <a:srgbClr val="FFFFFF"/>
                </a:solidFill>
                <a:latin typeface="微软雅黑"/>
              </a:rPr>
              <a:t>Fake</a:t>
            </a:r>
            <a:r>
              <a:rPr sz="1500" b="1" dirty="0">
                <a:solidFill>
                  <a:srgbClr val="FFFFFF"/>
                </a:solidFill>
                <a:latin typeface="微软雅黑"/>
              </a:rPr>
              <a:t> 数</a:t>
            </a: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r>
              <a:rPr sz="1500" b="1" dirty="0">
                <a:solidFill>
                  <a:srgbClr val="FFFFFF"/>
                </a:solidFill>
                <a:latin typeface="微软雅黑"/>
              </a:rPr>
              <a:t>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1" y="3912560"/>
            <a:ext cx="3840479" cy="883498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3950208"/>
            <a:ext cx="237744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 err="1">
                <a:solidFill>
                  <a:srgbClr val="FFFFFF"/>
                </a:solidFill>
                <a:latin typeface="微软雅黑"/>
              </a:rPr>
              <a:t>单元测试</a:t>
            </a:r>
            <a:r>
              <a:rPr sz="1500" b="1" dirty="0">
                <a:solidFill>
                  <a:srgbClr val="FFFFFF"/>
                </a:solidFill>
                <a:latin typeface="微软雅黑"/>
              </a:rPr>
              <a:t>
类/</a:t>
            </a:r>
            <a:r>
              <a:rPr sz="1500" b="1" dirty="0" err="1">
                <a:solidFill>
                  <a:srgbClr val="FFFFFF"/>
                </a:solidFill>
                <a:latin typeface="微软雅黑"/>
              </a:rPr>
              <a:t>函数级逻辑验证，JVM</a:t>
            </a:r>
            <a:r>
              <a:rPr sz="1500" b="1" dirty="0">
                <a:solidFill>
                  <a:srgbClr val="FFFFFF"/>
                </a:solidFill>
                <a:latin typeface="微软雅黑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微软雅黑"/>
              </a:rPr>
              <a:t>快速执行</a:t>
            </a:r>
            <a:endParaRPr sz="15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06440" y="1170432"/>
            <a:ext cx="26060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16168" y="1280160"/>
            <a:ext cx="238658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07608" y="1271016"/>
            <a:ext cx="22402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执行环境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1682496"/>
            <a:ext cx="227685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Android Studio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Gradle + JDK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真机：Redmi / Android 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170432"/>
            <a:ext cx="27432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59368" y="1280160"/>
            <a:ext cx="252374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50808" y="1271016"/>
            <a:ext cx="23774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核心工具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1682496"/>
            <a:ext cx="241401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JUnit4 / Robolectric / Hilt Testing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Turbine / Coroutines Test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JaCoCo / Lint / Spotless / Detekt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3364992"/>
            <a:ext cx="54864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16168" y="3474720"/>
            <a:ext cx="526694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07608" y="3465576"/>
            <a:ext cx="51206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补充工具与命令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3877056"/>
            <a:ext cx="515721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./gradlew testDemoDebug / connectedDemoDebugAndroidTest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Androguard：解析 Manifest、Activity、权限与 APK 结构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Android Studio Profiler：CPU / Memory / GPU 运行观测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Appium + ADB：采样脚本与连续交互冒烟测试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单元测试与集成测试设计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78992"/>
            <a:ext cx="10881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8" y="1188720"/>
            <a:ext cx="1066190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179576"/>
            <a:ext cx="1051560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核心思路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91056"/>
            <a:ext cx="10552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使用 Fake Repository 构造可控数据流；使用 MainDispatcherRule 替换主线程调度器；通过 StateFlow 观察 UI 状态变化。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0320"/>
            <a:ext cx="1920240" cy="1234440"/>
          </a:xfrm>
          <a:prstGeom prst="roundRect">
            <a:avLst/>
          </a:prstGeom>
          <a:solidFill>
            <a:srgbClr val="F7FBFF"/>
          </a:solidFill>
          <a:ln>
            <a:solidFill>
              <a:srgbClr val="4F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706624"/>
            <a:ext cx="17373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F8DFF"/>
                </a:solidFill>
                <a:latin typeface="微软雅黑"/>
              </a:rPr>
              <a:t>Fake 数据源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999232"/>
            <a:ext cx="173736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3A5F"/>
                </a:solidFill>
                <a:latin typeface="微软雅黑"/>
              </a:rPr>
              <a:t>MutableStateFlow / sendNewsResources()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3172968"/>
            <a:ext cx="320040" cy="0"/>
          </a:xfrm>
          <a:prstGeom prst="line">
            <a:avLst/>
          </a:prstGeom>
          <a:ln w="30480">
            <a:solidFill>
              <a:srgbClr val="4F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63240" y="2560320"/>
            <a:ext cx="1920240" cy="1234440"/>
          </a:xfrm>
          <a:prstGeom prst="roundRect">
            <a:avLst/>
          </a:prstGeom>
          <a:solidFill>
            <a:srgbClr val="F7FBFF"/>
          </a:solidFill>
          <a:ln>
            <a:solidFill>
              <a:srgbClr val="4F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72968" y="2706624"/>
            <a:ext cx="17373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F8DFF"/>
                </a:solidFill>
                <a:latin typeface="微软雅黑"/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999232"/>
            <a:ext cx="173736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3A5F"/>
                </a:solidFill>
                <a:latin typeface="微软雅黑"/>
              </a:rPr>
              <a:t>组合真实接口与测试替身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83480" y="3172968"/>
            <a:ext cx="320040" cy="0"/>
          </a:xfrm>
          <a:prstGeom prst="line">
            <a:avLst/>
          </a:prstGeom>
          <a:ln w="30480">
            <a:solidFill>
              <a:srgbClr val="4F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03520" y="2560320"/>
            <a:ext cx="1920240" cy="1234440"/>
          </a:xfrm>
          <a:prstGeom prst="roundRect">
            <a:avLst/>
          </a:prstGeom>
          <a:solidFill>
            <a:srgbClr val="F7FBFF"/>
          </a:solidFill>
          <a:ln>
            <a:solidFill>
              <a:srgbClr val="4F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13248" y="2706624"/>
            <a:ext cx="17373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F8DFF"/>
                </a:solidFill>
                <a:latin typeface="微软雅黑"/>
              </a:rPr>
              <a:t>ViewModel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999232"/>
            <a:ext cx="173736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3A5F"/>
                </a:solidFill>
                <a:latin typeface="微软雅黑"/>
              </a:rPr>
              <a:t>stateIn + WhileSubscribed 状态管理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23760" y="3172968"/>
            <a:ext cx="320040" cy="0"/>
          </a:xfrm>
          <a:prstGeom prst="line">
            <a:avLst/>
          </a:prstGeom>
          <a:ln w="30480">
            <a:solidFill>
              <a:srgbClr val="4F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43800" y="2560320"/>
            <a:ext cx="1920240" cy="1234440"/>
          </a:xfrm>
          <a:prstGeom prst="roundRect">
            <a:avLst/>
          </a:prstGeom>
          <a:solidFill>
            <a:srgbClr val="F7FBFF"/>
          </a:solidFill>
          <a:ln>
            <a:solidFill>
              <a:srgbClr val="4F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53528" y="2706624"/>
            <a:ext cx="17373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F8DFF"/>
                </a:solidFill>
                <a:latin typeface="微软雅黑"/>
              </a:rPr>
              <a:t>UI 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2999232"/>
            <a:ext cx="173736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3A5F"/>
                </a:solidFill>
                <a:latin typeface="微软雅黑"/>
              </a:rPr>
              <a:t>Loading / Success / 书签变化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06240"/>
            <a:ext cx="525780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5528" y="4315968"/>
            <a:ext cx="503834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4306824"/>
            <a:ext cx="48920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单元测试关注点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718304"/>
            <a:ext cx="4928616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初始状态是否正确（如 feedUiState = Loading）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书签添加/移除/撤销能否驱动状态重算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每个用例独立初始化，避免共享状态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4206240"/>
            <a:ext cx="54406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90488" y="4315968"/>
            <a:ext cx="522122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81928" y="4306824"/>
            <a:ext cx="50749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集成测试关注点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4718304"/>
            <a:ext cx="5111496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数据发布 → 仓库处理 → ViewModel 响应 → UI 状态变化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使用 advanceUntilIdle() 等待异步任务完成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更容易暴露接口契约和异步顺序问题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单元/集成测试结果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pic>
        <p:nvPicPr>
          <p:cNvPr id="7" name="Picture 6" descr="chart_t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143000"/>
            <a:ext cx="3566160" cy="28868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43400" y="1078992"/>
            <a:ext cx="33832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53128" y="1188720"/>
            <a:ext cx="316382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179576"/>
            <a:ext cx="30175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总体结果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591056"/>
            <a:ext cx="305409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总用例数：260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单元测试：211（81.2%）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集成测试：49（18.8%）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通过数：260，失败数：0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078992"/>
            <a:ext cx="36118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19288" y="1188720"/>
            <a:ext cx="339242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1179576"/>
            <a:ext cx="32461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集成测试覆盖模块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1591056"/>
            <a:ext cx="328269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core/data：2 套件，13 用例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feature/bookmarks：10 用例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feature/foryou：11 用例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feature/interests：9 用例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feature/settings：6 用例</a:t>
            </a:r>
          </a:p>
        </p:txBody>
      </p:sp>
      <p:pic>
        <p:nvPicPr>
          <p:cNvPr id="16" name="Picture 15" descr="chart_co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29000"/>
            <a:ext cx="4754880" cy="271707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06440" y="3401568"/>
            <a:ext cx="56692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16168" y="3511296"/>
            <a:ext cx="544982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07608" y="3502152"/>
            <a:ext cx="53035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覆盖率观察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913632"/>
            <a:ext cx="5340096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按综合统计口径，总体行覆盖率约 46.6%；按已列 13 个核心模块统计，约 42.3%，差异来自统计范围不同。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相对较高：core/datastore、feature/foryou、core/navigation。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相对较低：feature/settings、feature/search、feature/bookmarks 等模块。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011680"/>
            <a:ext cx="109728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2029968"/>
            <a:ext cx="5943600" cy="502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系统测试与工程质量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0512" y="2542032"/>
            <a:ext cx="64008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0F8FF"/>
                </a:solidFill>
                <a:latin typeface="微软雅黑"/>
              </a:rPr>
              <a:t>从构建、APK 到运行时表现的核验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82880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安卓应用综合测试报告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静态分析与构建质量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15568"/>
            <a:ext cx="34015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8" y="1225296"/>
            <a:ext cx="3182112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16152"/>
            <a:ext cx="3035808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Inspection / Lint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27632"/>
            <a:ext cx="307238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仓库记录：Lint 0 个错误、43 个警告。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ConnectivityManager 权限警告需结合合并 Manifest 复核。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源码核验后确认 ACCESS_NETWORK_STATE 已在 core/data Manifest 中声明。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15568"/>
            <a:ext cx="34015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61688" y="1225296"/>
            <a:ext cx="3182112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1216152"/>
            <a:ext cx="3035808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App Link 与配置警告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627632"/>
            <a:ext cx="307238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Manifest 中相关 intent-filter 未开启 android:autoVerify="true"。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这提示自动域名验证未启用，但不等同于功能一定异常。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115568"/>
            <a:ext cx="34015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27848" y="1225296"/>
            <a:ext cx="3182112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1216152"/>
            <a:ext cx="3035808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Spotless / Gradle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1627632"/>
            <a:ext cx="307238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.\gradlew.bat spotlessCheck 执行成功。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日志显示 BUILD SUCCESSFUL in 4s。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同时存在 Deprecated Gradle features 提示，建议后续升级兼容。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93008"/>
            <a:ext cx="5440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5528" y="3602736"/>
            <a:ext cx="522122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593592"/>
            <a:ext cx="50749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仓库可复现性问题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005072"/>
            <a:ext cx="511149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README 顶部与末尾仍保留 Git 合并冲突标记。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部分 Appium 脚本使用绝对路径、特定设备名与占位参数。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稳定性脚本缺少结构化结果、最大轮数和页面断言。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493008"/>
            <a:ext cx="495604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19088" y="3602736"/>
            <a:ext cx="4736592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7965" y="3590119"/>
            <a:ext cx="4590288" cy="36279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b="1" dirty="0">
                <a:solidFill>
                  <a:srgbClr val="FFFFFF"/>
                </a:solidFill>
                <a:latin typeface="微软雅黑"/>
              </a:rPr>
              <a:t>注意</a:t>
            </a:r>
            <a:endParaRPr sz="16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3952" y="4005072"/>
            <a:ext cx="4626864" cy="84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dirty="0" err="1">
                <a:solidFill>
                  <a:srgbClr val="1F3A5F"/>
                </a:solidFill>
                <a:latin typeface="微软雅黑"/>
              </a:rPr>
              <a:t>本次</a:t>
            </a:r>
            <a:r>
              <a:rPr lang="zh-CN" altLang="en-US" sz="14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sz="1400" dirty="0">
                <a:solidFill>
                  <a:srgbClr val="1F3A5F"/>
                </a:solidFill>
                <a:latin typeface="微软雅黑"/>
              </a:rPr>
              <a:t>不把上述问题直接判定为“</a:t>
            </a:r>
            <a:r>
              <a:rPr sz="1400" dirty="0" err="1">
                <a:solidFill>
                  <a:srgbClr val="1F3A5F"/>
                </a:solidFill>
                <a:latin typeface="微软雅黑"/>
              </a:rPr>
              <a:t>应用缺陷</a:t>
            </a:r>
            <a:r>
              <a:rPr sz="1400" dirty="0">
                <a:solidFill>
                  <a:srgbClr val="1F3A5F"/>
                </a:solidFill>
                <a:latin typeface="微软雅黑"/>
              </a:rPr>
              <a:t>”，</a:t>
            </a:r>
            <a:r>
              <a:rPr sz="1400" dirty="0" err="1">
                <a:solidFill>
                  <a:srgbClr val="1F3A5F"/>
                </a:solidFill>
                <a:latin typeface="微软雅黑"/>
              </a:rPr>
              <a:t>而是视为“工程化与复现实验风险</a:t>
            </a:r>
            <a:r>
              <a:rPr sz="1400" dirty="0">
                <a:solidFill>
                  <a:srgbClr val="1F3A5F"/>
                </a:solidFill>
                <a:latin typeface="微软雅黑"/>
              </a:rPr>
              <a:t>”。</a:t>
            </a:r>
          </a:p>
          <a:p>
            <a:pPr>
              <a:lnSpc>
                <a:spcPct val="120000"/>
              </a:lnSpc>
            </a:pPr>
            <a:r>
              <a:rPr sz="1400" dirty="0" err="1">
                <a:solidFill>
                  <a:srgbClr val="1F3A5F"/>
                </a:solidFill>
                <a:latin typeface="微软雅黑"/>
              </a:rPr>
              <a:t>这样比简单罗列警告更严谨，也更符合仓库核验结论</a:t>
            </a:r>
            <a:r>
              <a:rPr sz="1400" dirty="0">
                <a:solidFill>
                  <a:srgbClr val="1F3A5F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APK 结构、安全与发布形态分析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15568"/>
            <a:ext cx="34290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8" y="1225296"/>
            <a:ext cx="320954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16152"/>
            <a:ext cx="30632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Androguard 解析结果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27632"/>
            <a:ext cx="309981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识别 APK 包名与版本信息，并提取 AndroidManifest.xml。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可枚举主要 Activity、权限声明与控制流图。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说明构建产物可被正常解析，适合进一步做安全与结构核验。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115568"/>
            <a:ext cx="34290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25696" y="1225296"/>
            <a:ext cx="320954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216152"/>
            <a:ext cx="30632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发布形态观察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27632"/>
            <a:ext cx="309981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项目支持 Android App Bundle（AAB）发布思路。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无 OBB 扩展包，符合轻量安装与网络拉取资源的设计。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APK 中可见 Baseline Profile 相关产物，有助于优化启动与渲染。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115568"/>
            <a:ext cx="32461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65007" y="1225296"/>
            <a:ext cx="302666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7" y="1216152"/>
            <a:ext cx="28803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权限与安全视角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1627632"/>
            <a:ext cx="291693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权限以 INTERNET、ACCESS_NETWORK_STATE、POST_NOTIFICATIONS 等为主。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更适合得出“配置基本合理”的结论，而非直接宣称“整体绝对安全”。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75887"/>
            <a:ext cx="1056132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5528" y="3785615"/>
            <a:ext cx="1034186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776471"/>
            <a:ext cx="101955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本页结论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187951"/>
            <a:ext cx="10232136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系统测试已经覆盖“安装包能否解析—组件与权限是否可见—发布产物是否符合现代 Android 工程实践”这条检查链路。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性能与稳定性测试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pic>
        <p:nvPicPr>
          <p:cNvPr id="7" name="Picture 6" descr="chart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34440"/>
            <a:ext cx="4754880" cy="3443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115568"/>
            <a:ext cx="56235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79008" y="1225296"/>
            <a:ext cx="540410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0448" y="1216152"/>
            <a:ext cx="525780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Profiler / CSV 主要观察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52943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启动阶段 CPU 峰值可达约 80%，进入稳态后多数采样降至 0.9%–27.9%。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内存总体稳定在约 158–162 MB，未观察到持续攀升的明显泄漏迹象。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GPU 渲染多数低于 16.6ms，滚动与加载瞬间出现短暂峰值。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749039"/>
            <a:ext cx="466344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536" y="3858767"/>
            <a:ext cx="444398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849623"/>
            <a:ext cx="42976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稳定性脚本定位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61103"/>
            <a:ext cx="4334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当前脚本更接近“连续交互冒烟测试”，用于反复打开页面、执行简单操作。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它可以帮助发现明显崩溃或卡死，但不足以替代完整的长稳测试。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749039"/>
            <a:ext cx="562356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79008" y="3858767"/>
            <a:ext cx="540410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0448" y="3849623"/>
            <a:ext cx="525780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讲解时的严谨表述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4261103"/>
            <a:ext cx="529437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可以说“现有证据下运行基本稳定”，但不宜直接说“稳定性已被充分证明”。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F3A5F"/>
                </a:solidFill>
                <a:latin typeface="微软雅黑"/>
              </a:rPr>
              <a:t>若要进一步严谨，应补充多设备、长时长和标准化基准测试。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0312"/>
            <a:ext cx="7772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微软雅黑"/>
              </a:rPr>
              <a:t>主要发现与改进建议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1097280" cy="73152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169164"/>
            <a:ext cx="347472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78992"/>
            <a:ext cx="5257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8" y="1188720"/>
            <a:ext cx="503834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179576"/>
            <a:ext cx="48920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主要发现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91056"/>
            <a:ext cx="4928616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现有用例已较好覆盖 ViewModel、Repository 与数据流协作场景。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260 个单元与集成测试全部通过，说明核心业务链路较稳定。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系统测试已覆盖静态检查、APK 结构与运行观测，但部分结论需要更谨慎表述。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F3A5F"/>
                </a:solidFill>
                <a:latin typeface="微软雅黑"/>
              </a:rPr>
              <a:t>仓库在复现性与版本管理上仍有明显可改进空间。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78992"/>
            <a:ext cx="50749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81928" y="1188720"/>
            <a:ext cx="4855464" cy="310896"/>
          </a:xfrm>
          <a:prstGeom prst="round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179576"/>
            <a:ext cx="47091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后续改进建议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591056"/>
            <a:ext cx="4745736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补充 Compose UI / androidTest 与真实设备端到端测试。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优先提升低覆盖率模块，明确覆盖率统计口径。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将性能测试升级为 Macrobenchmark + Baseline Profile 的标准流程。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清理 README 冲突标记，脚本参数化，去除绝对路径与占位设备名。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F3A5F"/>
                </a:solidFill>
                <a:latin typeface="微软雅黑"/>
              </a:rPr>
              <a:t>稳定性脚本增加 ANR/logcat 检查、页面断言和结构化结果导出。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1143000"/>
            <a:ext cx="530352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综合结论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987552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F5FAFF"/>
                </a:solidFill>
                <a:latin typeface="微软雅黑"/>
              </a:rPr>
              <a:t>1. 测试项目已形成从源码逻辑到系统运行的完整质量验证链路。
2. 现有证据表明：核心功能正确、组件协作稳定、构建与安装包检查基本可通过。
3. 当前最值得改进的不是“再堆更多截图”，而是统一统计口径、提升脚本可复现性与标准化性能测试。
4. 因此，本项目可以作为一次较完整的移动应用测试实践成果进行汇报。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833E-A114-36EE-DF37-0AD59CBC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>
            <a:extLst>
              <a:ext uri="{FF2B5EF4-FFF2-40B4-BE49-F238E27FC236}">
                <a16:creationId xmlns:a16="http://schemas.microsoft.com/office/drawing/2014/main" id="{6D5CEAF2-2028-F816-7089-693114131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361" y="-106325"/>
            <a:ext cx="1219169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D9A5E7-EF7A-4AE9-67C1-4797B43B1288}"/>
              </a:ext>
            </a:extLst>
          </p:cNvPr>
          <p:cNvSpPr txBox="1"/>
          <p:nvPr/>
        </p:nvSpPr>
        <p:spPr>
          <a:xfrm>
            <a:off x="1569508" y="1833948"/>
            <a:ext cx="6400800" cy="319010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800" dirty="0">
                <a:solidFill>
                  <a:srgbClr val="F0F8FF"/>
                </a:solidFill>
                <a:latin typeface="微软雅黑"/>
              </a:rPr>
              <a:t>谢谢大家，感谢聆听</a:t>
            </a:r>
            <a:endParaRPr kumimoji="0" sz="8800" b="0" i="0" u="none" strike="noStrike" kern="1200" cap="none" spc="0" normalizeH="0" baseline="0" noProof="0" dirty="0">
              <a:ln>
                <a:noFill/>
              </a:ln>
              <a:solidFill>
                <a:srgbClr val="F0F8FF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0DEF1-DF28-4EC9-3218-CA1261ABB88F}"/>
              </a:ext>
            </a:extLst>
          </p:cNvPr>
          <p:cNvSpPr txBox="1"/>
          <p:nvPr/>
        </p:nvSpPr>
        <p:spPr>
          <a:xfrm>
            <a:off x="502920" y="384048"/>
            <a:ext cx="182880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安卓应用综合测试报告</a:t>
            </a:r>
          </a:p>
        </p:txBody>
      </p:sp>
    </p:spTree>
    <p:extLst>
      <p:ext uri="{BB962C8B-B14F-4D97-AF65-F5344CB8AC3E}">
        <p14:creationId xmlns:p14="http://schemas.microsoft.com/office/powerpoint/2010/main" val="3736194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733</Words>
  <Application>Microsoft Office PowerPoint</Application>
  <PresentationFormat>宽屏</PresentationFormat>
  <Paragraphs>158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2026-06-17T15:15:08Z</dcterms:modified>
  <cp:category/>
</cp:coreProperties>
</file>